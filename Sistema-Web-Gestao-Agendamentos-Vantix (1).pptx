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0020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C5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Sistema Web para Gestão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C5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Agendamentos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429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da </a:t>
            </a:r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Vantix Soluções Digitais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 Rede de Clínicas Populares — unificando agendas, reduzindo faltas e dando visão em tempo real para os gestores.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800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800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PROJETO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869680" y="1051560"/>
            <a:ext cx="2743200" cy="4480560"/>
          </a:xfrm>
          <a:prstGeom prst="roundRect">
            <a:avLst>
              <a:gd name="adj" fmla="val 4000"/>
            </a:avLst>
          </a:prstGeom>
          <a:solidFill>
            <a:srgbClr val="2A2A2D"/>
          </a:solidFill>
          <a:ln/>
        </p:spPr>
      </p:sp>
      <p:sp>
        <p:nvSpPr>
          <p:cNvPr id="7" name="Shape 5"/>
          <p:cNvSpPr/>
          <p:nvPr/>
        </p:nvSpPr>
        <p:spPr>
          <a:xfrm>
            <a:off x="9738360" y="1508760"/>
            <a:ext cx="1005840" cy="100584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8" name="Image 0" descr="/home/claude/deck/icons/buildingClinic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1728216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52560" y="26517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Rede de Clínicas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Populares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0" y="3520440"/>
            <a:ext cx="640080" cy="640080"/>
          </a:xfrm>
          <a:prstGeom prst="ellipse">
            <a:avLst/>
          </a:prstGeom>
          <a:solidFill>
            <a:srgbClr val="3A3A3D"/>
          </a:solidFill>
          <a:ln/>
        </p:spPr>
      </p:sp>
      <p:pic>
        <p:nvPicPr>
          <p:cNvPr id="11" name="Image 1" descr="/home/claude/deck/icons/calendar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685032"/>
            <a:ext cx="310896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921240" y="3520440"/>
            <a:ext cx="640080" cy="640080"/>
          </a:xfrm>
          <a:prstGeom prst="ellipse">
            <a:avLst/>
          </a:prstGeom>
          <a:solidFill>
            <a:srgbClr val="3A3A3D"/>
          </a:solidFill>
          <a:ln/>
        </p:spPr>
      </p:sp>
      <p:pic>
        <p:nvPicPr>
          <p:cNvPr id="13" name="Image 2" descr="/home/claude/deck/icons/bell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3685032"/>
            <a:ext cx="310896" cy="31089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698480" y="3520440"/>
            <a:ext cx="640080" cy="640080"/>
          </a:xfrm>
          <a:prstGeom prst="ellipse">
            <a:avLst/>
          </a:prstGeom>
          <a:solidFill>
            <a:srgbClr val="3A3A3D"/>
          </a:solidFill>
          <a:ln/>
        </p:spPr>
      </p:sp>
      <p:pic>
        <p:nvPicPr>
          <p:cNvPr id="15" name="Image 3" descr="/home/claude/deck/icons/chartLine-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3072" y="368503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06840" y="4297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Lembretes · Indicadores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11475720" y="457200"/>
            <a:ext cx="502920" cy="50292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8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Vantix Soluções Digitais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Quem é a Vantix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2A2A2D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65960"/>
            <a:ext cx="594360" cy="59436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5" name="Image 0" descr="/home/claude/deck/icons/lapto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031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Desenvolvimento Sob Medida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34290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web e mobile personalizados para saúde, educação, varejo e serviços.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164592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2A2A2D"/>
          </a:solidFill>
          <a:ln/>
        </p:spPr>
      </p:sp>
      <p:sp>
        <p:nvSpPr>
          <p:cNvPr id="9" name="Shape 6"/>
          <p:cNvSpPr/>
          <p:nvPr/>
        </p:nvSpPr>
        <p:spPr>
          <a:xfrm>
            <a:off x="4800600" y="1965960"/>
            <a:ext cx="594360" cy="59436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0" name="Image 1" descr="/home/claude/deck/icons/cogs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060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Automação de Processos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800600" y="34290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Automatizamos rotinas e integramos informações antes dispersas em cada cliente.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321040" y="164592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2A2A2D"/>
          </a:solidFill>
          <a:ln/>
        </p:spPr>
      </p:sp>
      <p:sp>
        <p:nvSpPr>
          <p:cNvPr id="14" name="Shape 10"/>
          <p:cNvSpPr/>
          <p:nvPr/>
        </p:nvSpPr>
        <p:spPr>
          <a:xfrm>
            <a:off x="8641080" y="1965960"/>
            <a:ext cx="594360" cy="59436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5" name="Image 2" descr="/home/claude/deck/icons/chart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1031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41080" y="2743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Decisão com Dados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641080" y="34290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Oferecemos dados claros para apoiar a tomada de decisão, independentemente do segmento.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Vantix Soluções Digitais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Solução Proposta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1C1C1E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874520"/>
            <a:ext cx="4114800" cy="2377440"/>
          </a:xfrm>
          <a:prstGeom prst="roundRect">
            <a:avLst>
              <a:gd name="adj" fmla="val 1923"/>
            </a:avLst>
          </a:prstGeom>
          <a:solidFill>
            <a:srgbClr val="3A3A3D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5" name="Image 0" descr="/home/claude/deck/icons/calendar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14884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31546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(agenda centralizada)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234440" y="4434840"/>
            <a:ext cx="1737360" cy="1325880"/>
          </a:xfrm>
          <a:prstGeom prst="roundRect">
            <a:avLst>
              <a:gd name="adj" fmla="val 10345"/>
            </a:avLst>
          </a:prstGeom>
          <a:solidFill>
            <a:srgbClr val="3A3A3D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8" name="Image 1" descr="/home/claude/deck/icons/mobile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457200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5212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154680" y="4434840"/>
            <a:ext cx="1920240" cy="1325880"/>
          </a:xfrm>
          <a:prstGeom prst="roundRect">
            <a:avLst>
              <a:gd name="adj" fmla="val 3448"/>
            </a:avLst>
          </a:prstGeom>
          <a:solidFill>
            <a:srgbClr val="F5C518"/>
          </a:solidFill>
          <a:ln/>
        </p:spPr>
      </p:sp>
      <p:pic>
        <p:nvPicPr>
          <p:cNvPr id="11" name="Image 2" descr="/home/claude/deck/icons/bell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457200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91840" y="5212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760720" y="15544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Sistema Web Responsivo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5760720" y="201168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Acessível por navegador em computador, tablet ou celular — sem instalação.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760720" y="2743200"/>
            <a:ext cx="5760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 para gestão da rede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simplificado para os pacientes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centralizada com bloqueio automático de conflitos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por e-mail, SMS ou WhatsApp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atendimentos e relatórios gerenciais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Vantix Soluções Digitais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Quem Vai Usar o 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4" name="Image 0" descr="/home/claude/deck/icons/userNurse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97510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7373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Recepção / Atendentes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63040" y="22402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Cadastram pacientes e gerenciam a agenda das unidades.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46520" y="1828800"/>
            <a:ext cx="640080" cy="64008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8" name="Image 1" descr="/home/claude/deck/icons/stethoscop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97510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69480" y="17373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Profissionais de Saúde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269480" y="22402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Consultam agenda, histórico e status dos atendimentos.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4251960"/>
            <a:ext cx="640080" cy="64008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2" name="Image 2" descr="/home/claude/deck/icons/chartLin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39826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41605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Gestores da Rede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63040" y="466344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 indicadores de todas as clínicas em um só lugar.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46520" y="4251960"/>
            <a:ext cx="640080" cy="64008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6" name="Image 3" descr="/home/claude/deck/icons/calendarCheck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4398264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69480" y="41605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Pacientes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269480" y="466344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Agendam, remarcam ou cancelam consultas e recebem lembretes.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Vantix Soluções Digitais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Como Funcionará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5" name="Image 0" descr="/home/claude/deck/icons/calendar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2140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011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Centralizada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único de clínicas, profissionais e horários com bloqueio automático de conflitos.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4652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20840" y="2011680"/>
            <a:ext cx="502920" cy="50292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0" name="Image 1" descr="/home/claude/deck/icons/bell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12140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2011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Lembretes Automáticos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720840" y="265176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por e-mail, SMS ou WhatsApp antes da consulta, reduzindo faltas.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5" name="Image 2" descr="/home/claude/deck/icons/userShield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54456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434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Perfis de Acesso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914400" y="50749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diferentes para atendentes, profissionais e gestores, mantendo a segurança dos dados.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4652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20840" y="4434840"/>
            <a:ext cx="502920" cy="50292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20" name="Image 3" descr="/home/claude/deck/icons/chartPi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454456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434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Relatórios Gerenciais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720840" y="50749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ocupação, faltas e produtividade por unidade e por profissional.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Vantix Soluções Digitais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Contribuições para a Rotina da Rede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A2A2D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5" name="Image 0" descr="/home/claude/deck/icons/ba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305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011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Fim das Planilhas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anotações soltas e unifica as informações em um único sistema.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4652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A2A2D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2011680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0" name="Image 1" descr="/home/claude/deck/icons/shieldCheck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213055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2011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Menos Erros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720840" y="2697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erros de agendamento e sobreposição de horários.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A2A2D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5" name="Image 2" descr="/home/claude/deck/icons/bell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55371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434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Menos Faltas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14400" y="51206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Diminui ausências dos pacientes por meio de lembretes automáticos.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4652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A2A2D"/>
          </a:solidFill>
          <a:ln/>
        </p:spPr>
      </p:sp>
      <p:sp>
        <p:nvSpPr>
          <p:cNvPr id="19" name="Shape 14"/>
          <p:cNvSpPr/>
          <p:nvPr/>
        </p:nvSpPr>
        <p:spPr>
          <a:xfrm>
            <a:off x="6720840" y="4434840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20" name="Image 3" descr="/home/claude/deck/icons/ey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455371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434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Visão em Tempo Real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720840" y="51206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aos gestores visão em tempo real de todas as unidades da rede.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Vantix Soluções Digitais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Equipe Mínima de Desenvolvimento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profissionais especializados, cada um atuando em uma etapa específica do projeto.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5" name="Image 0" descr="/home/claude/deck/icons/briefcase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007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727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167128"/>
            <a:ext cx="3383280" cy="0"/>
          </a:xfrm>
          <a:prstGeom prst="line">
            <a:avLst/>
          </a:prstGeom>
          <a:noFill/>
          <a:ln w="19050">
            <a:solidFill>
              <a:srgbClr val="DD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240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Projetos /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0" name="Image 1" descr="/home/claude/deck/icons/paintbrush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17007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5727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343400" y="2167128"/>
            <a:ext cx="3383280" cy="0"/>
          </a:xfrm>
          <a:prstGeom prst="line">
            <a:avLst/>
          </a:prstGeom>
          <a:noFill/>
          <a:ln w="19050">
            <a:solidFill>
              <a:srgbClr val="DDDDD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43400" y="2240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Designer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5" name="Image 2" descr="/home/claude/deck/icons/cod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17007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0" y="15727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8046720" y="2167128"/>
            <a:ext cx="3383280" cy="0"/>
          </a:xfrm>
          <a:prstGeom prst="line">
            <a:avLst/>
          </a:prstGeom>
          <a:noFill/>
          <a:ln w="19050">
            <a:solidFill>
              <a:srgbClr val="DDDDD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46720" y="2240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Front-end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20" name="Image 3" descr="/home/claude/deck/icons/server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25526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31272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40080" y="3721608"/>
            <a:ext cx="3383280" cy="0"/>
          </a:xfrm>
          <a:prstGeom prst="line">
            <a:avLst/>
          </a:prstGeom>
          <a:noFill/>
          <a:ln w="19050">
            <a:solidFill>
              <a:srgbClr val="DDDDD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40080" y="37947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Back-end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3154680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25" name="Image 4" descr="/home/claude/deck/icons/databas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325526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92040" y="31272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4343400" y="3721608"/>
            <a:ext cx="3383280" cy="0"/>
          </a:xfrm>
          <a:prstGeom prst="line">
            <a:avLst/>
          </a:prstGeom>
          <a:noFill/>
          <a:ln w="19050">
            <a:solidFill>
              <a:srgbClr val="DDDDD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343400" y="37947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de Banco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 (DBA)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46720" y="3154680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30" name="Image 5" descr="/home/claude/deck/icons/shieldCheck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7304" y="3255264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95360" y="31272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8046720" y="3721608"/>
            <a:ext cx="3383280" cy="0"/>
          </a:xfrm>
          <a:prstGeom prst="line">
            <a:avLst/>
          </a:prstGeom>
          <a:noFill/>
          <a:ln w="19050">
            <a:solidFill>
              <a:srgbClr val="DDDDDA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8046720" y="37947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Testes (QA)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35" name="Image 6" descr="/home/claude/deck/icons/cloud-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4809744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188720" y="46817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500" dirty="0"/>
          </a:p>
        </p:txBody>
      </p:sp>
      <p:sp>
        <p:nvSpPr>
          <p:cNvPr id="37" name="Shape 28"/>
          <p:cNvSpPr/>
          <p:nvPr/>
        </p:nvSpPr>
        <p:spPr>
          <a:xfrm>
            <a:off x="640080" y="5276088"/>
            <a:ext cx="3383280" cy="0"/>
          </a:xfrm>
          <a:prstGeom prst="line">
            <a:avLst/>
          </a:prstGeom>
          <a:noFill/>
          <a:ln w="19050">
            <a:solidFill>
              <a:srgbClr val="DDDDDA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40080" y="53492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de DevOps /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Vantix Soluções Digitais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Colaboração: Da Ideia ao Código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331720" cy="3108960"/>
          </a:xfrm>
          <a:prstGeom prst="roundRect">
            <a:avLst>
              <a:gd name="adj" fmla="val 3922"/>
            </a:avLst>
          </a:prstGeom>
          <a:solidFill>
            <a:srgbClr val="2A2A2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5" name="Image 0" descr="/home/claude/deck/icons/clipboar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219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88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Requisitos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GP/PO levanta necessidades e define requisitos priorizados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980944" y="3374136"/>
            <a:ext cx="118872" cy="182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9" name="Shape 6"/>
          <p:cNvSpPr/>
          <p:nvPr/>
        </p:nvSpPr>
        <p:spPr>
          <a:xfrm>
            <a:off x="3108960" y="1828800"/>
            <a:ext cx="2331720" cy="3108960"/>
          </a:xfrm>
          <a:prstGeom prst="roundRect">
            <a:avLst>
              <a:gd name="adj" fmla="val 3922"/>
            </a:avLst>
          </a:prstGeom>
          <a:solidFill>
            <a:srgbClr val="2A2A2D"/>
          </a:solidFill>
          <a:ln/>
        </p:spPr>
      </p:sp>
      <p:sp>
        <p:nvSpPr>
          <p:cNvPr id="10" name="Shape 7"/>
          <p:cNvSpPr/>
          <p:nvPr/>
        </p:nvSpPr>
        <p:spPr>
          <a:xfrm>
            <a:off x="3291840" y="2103120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1" name="Image 1" descr="/home/claude/deck/icons/paintbrush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22219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788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91840" y="324612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desenha fluxos e protótipos das telas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49824" y="3374136"/>
            <a:ext cx="118872" cy="182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5" name="Shape 11"/>
          <p:cNvSpPr/>
          <p:nvPr/>
        </p:nvSpPr>
        <p:spPr>
          <a:xfrm>
            <a:off x="5577840" y="1828800"/>
            <a:ext cx="2331720" cy="3108960"/>
          </a:xfrm>
          <a:prstGeom prst="roundRect">
            <a:avLst>
              <a:gd name="adj" fmla="val 3922"/>
            </a:avLst>
          </a:prstGeom>
          <a:solidFill>
            <a:srgbClr val="2A2A2D"/>
          </a:solidFill>
          <a:ln/>
        </p:spPr>
      </p:sp>
      <p:sp>
        <p:nvSpPr>
          <p:cNvPr id="16" name="Shape 12"/>
          <p:cNvSpPr/>
          <p:nvPr/>
        </p:nvSpPr>
        <p:spPr>
          <a:xfrm>
            <a:off x="5760720" y="2103120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7" name="Image 2" descr="/home/claude/deck/icons/cod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22199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60720" y="2788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Construção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760720" y="324612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 Back-end constroem o sistema e a API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918704" y="3374136"/>
            <a:ext cx="118872" cy="182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Shape 16"/>
          <p:cNvSpPr/>
          <p:nvPr/>
        </p:nvSpPr>
        <p:spPr>
          <a:xfrm>
            <a:off x="8046720" y="1828800"/>
            <a:ext cx="2331720" cy="3108960"/>
          </a:xfrm>
          <a:prstGeom prst="roundRect">
            <a:avLst>
              <a:gd name="adj" fmla="val 3922"/>
            </a:avLst>
          </a:prstGeom>
          <a:solidFill>
            <a:srgbClr val="2A2A2D"/>
          </a:solidFill>
          <a:ln/>
        </p:spPr>
      </p:sp>
      <p:sp>
        <p:nvSpPr>
          <p:cNvPr id="22" name="Shape 17"/>
          <p:cNvSpPr/>
          <p:nvPr/>
        </p:nvSpPr>
        <p:spPr>
          <a:xfrm>
            <a:off x="8229600" y="2103120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23" name="Image 3" descr="/home/claude/deck/icons/shieldCheck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22199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0" y="2788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Qualidade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229600" y="324612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DBA, QA e DevOps garantem dados seguros, testes e infraestrutura estável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52578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Integração Contínua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40080" y="56692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entregas de um profissional serviram de base para o trabalho do seguinte, por meio de reuniões curtas de acompanhamento e um repositório único de código e documentação — mantendo todos com a mesma visão do projeto.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Vantix Soluções Digitais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Cada Profissional Contribuiu (1/2)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concepção ao protótipo: como cada área moldou o sistema web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67078"/>
            <a:ext cx="512064" cy="512064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5" name="Image 0" descr="/home/claude/deck/icons/briefcase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7680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27048"/>
            <a:ext cx="269748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Gerente de Projetos /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 Owner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14800" y="1508760"/>
            <a:ext cx="507492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Levantou as necessidades da rede de clínicas junto aos atendentes e gestores, priorizou o backlog de funcionalidades e manteve design, desenvolvimento e testes alinhados em um cronograma único, garantindo que o produto final resolvesse o problema real das faltas e da agenda descentralizada.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9326880" y="1639062"/>
            <a:ext cx="2286000" cy="768096"/>
          </a:xfrm>
          <a:prstGeom prst="roundRect">
            <a:avLst>
              <a:gd name="adj" fmla="val 9524"/>
            </a:avLst>
          </a:prstGeom>
          <a:solidFill>
            <a:srgbClr val="1C1C1E"/>
          </a:solidFill>
          <a:ln/>
        </p:spPr>
      </p:sp>
      <p:sp>
        <p:nvSpPr>
          <p:cNvPr id="9" name="Text 6"/>
          <p:cNvSpPr/>
          <p:nvPr/>
        </p:nvSpPr>
        <p:spPr>
          <a:xfrm>
            <a:off x="9464040" y="165735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
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Trello, Notion, Asana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2628900"/>
            <a:ext cx="11064240" cy="0"/>
          </a:xfrm>
          <a:prstGeom prst="line">
            <a:avLst/>
          </a:prstGeom>
          <a:noFill/>
          <a:ln w="9525">
            <a:solidFill>
              <a:srgbClr val="DDDD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978658"/>
            <a:ext cx="512064" cy="512064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2" name="Image 1" descr="/home/claude/deck/icons/paintbrush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08838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738628"/>
            <a:ext cx="269748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UX/UI Designer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114800" y="2720340"/>
            <a:ext cx="507492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Traduziu as necessidades de atendentes e pacientes em fluxos de navegação e protótipos navegáveis, testou a usabilidade do agendamento antes da codificação e definiu o guia visual (cores, tipografia, componentes) que orientou toda a implementação do front-end.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9326880" y="2850642"/>
            <a:ext cx="2286000" cy="768096"/>
          </a:xfrm>
          <a:prstGeom prst="roundRect">
            <a:avLst>
              <a:gd name="adj" fmla="val 9524"/>
            </a:avLst>
          </a:prstGeom>
          <a:solidFill>
            <a:srgbClr val="1C1C1E"/>
          </a:solidFill>
          <a:ln/>
        </p:spPr>
      </p:sp>
      <p:sp>
        <p:nvSpPr>
          <p:cNvPr id="16" name="Text 12"/>
          <p:cNvSpPr/>
          <p:nvPr/>
        </p:nvSpPr>
        <p:spPr>
          <a:xfrm>
            <a:off x="9464040" y="286893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
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Figma, Adobe XD, Miro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48640" y="3840480"/>
            <a:ext cx="11064240" cy="0"/>
          </a:xfrm>
          <a:prstGeom prst="line">
            <a:avLst/>
          </a:prstGeom>
          <a:noFill/>
          <a:ln w="9525">
            <a:solidFill>
              <a:srgbClr val="DDDDD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4190238"/>
            <a:ext cx="512064" cy="512064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9" name="Image 2" descr="/home/claude/deck/icons/cod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99966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950208"/>
            <a:ext cx="269748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Desenvolvedor Front-end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114800" y="3931920"/>
            <a:ext cx="507492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Implementou as telas responsivas do painel administrativo e do portal do paciente a partir dos protótipos, com componentes reutilizáveis, validações de formulário e integração com a API, garantindo boa experiência em computador, tablet e celular.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9326880" y="4062222"/>
            <a:ext cx="2286000" cy="768096"/>
          </a:xfrm>
          <a:prstGeom prst="roundRect">
            <a:avLst>
              <a:gd name="adj" fmla="val 9524"/>
            </a:avLst>
          </a:prstGeom>
          <a:solidFill>
            <a:srgbClr val="1C1C1E"/>
          </a:solidFill>
          <a:ln/>
        </p:spPr>
      </p:sp>
      <p:sp>
        <p:nvSpPr>
          <p:cNvPr id="23" name="Text 18"/>
          <p:cNvSpPr/>
          <p:nvPr/>
        </p:nvSpPr>
        <p:spPr>
          <a:xfrm>
            <a:off x="9464040" y="408051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
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Vue.js, TypeScript, Tailwind CSS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48640" y="5052060"/>
            <a:ext cx="11064240" cy="0"/>
          </a:xfrm>
          <a:prstGeom prst="line">
            <a:avLst/>
          </a:prstGeom>
          <a:noFill/>
          <a:ln w="9525">
            <a:solidFill>
              <a:srgbClr val="DDDDD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5401818"/>
            <a:ext cx="512064" cy="512064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26" name="Image 3" descr="/home/claude/deck/icons/server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51154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80160" y="5161788"/>
            <a:ext cx="269748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Desenvolvedor Back-end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4114800" y="5143500"/>
            <a:ext cx="507492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Construiu a API que centraliza os dados de todas as unidades, as regras de bloqueio automático de conflitos de horário e a lógica de disparo de lembretes por e-mail, SMS e WhatsApp antes de cada consulta.</a:t>
            </a:r>
            <a:endParaRPr lang="en-US" sz="1080" dirty="0"/>
          </a:p>
        </p:txBody>
      </p:sp>
      <p:sp>
        <p:nvSpPr>
          <p:cNvPr id="29" name="Shape 23"/>
          <p:cNvSpPr/>
          <p:nvPr/>
        </p:nvSpPr>
        <p:spPr>
          <a:xfrm>
            <a:off x="9326880" y="5273802"/>
            <a:ext cx="2286000" cy="768096"/>
          </a:xfrm>
          <a:prstGeom prst="roundRect">
            <a:avLst>
              <a:gd name="adj" fmla="val 9524"/>
            </a:avLst>
          </a:prstGeom>
          <a:solidFill>
            <a:srgbClr val="1C1C1E"/>
          </a:solidFill>
          <a:ln/>
        </p:spPr>
      </p:sp>
      <p:sp>
        <p:nvSpPr>
          <p:cNvPr id="30" name="Text 24"/>
          <p:cNvSpPr/>
          <p:nvPr/>
        </p:nvSpPr>
        <p:spPr>
          <a:xfrm>
            <a:off x="9464040" y="529209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
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Django, Spring Boot, REST/APIs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Vantix Soluções Digitais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Cada Profissional Contribuiu (2/2)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base de dados à publicação: sustentando o sistema em produção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69008"/>
            <a:ext cx="512064" cy="512064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5" name="Image 0" descr="/home/claude/deck/icons/database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787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27048"/>
            <a:ext cx="2697480" cy="1395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Administrador de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Banco de Dados (DBA)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14800" y="1508760"/>
            <a:ext cx="5074920" cy="1432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Modelou o esquema relacional de clínicas, profissionais, pacientes e agendamentos, definiu índices para consultas rápidas de disponibilidade e configurou rotinas de backup e recuperação para proteger o histórico de atendimentos.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9326880" y="1840992"/>
            <a:ext cx="2286000" cy="768096"/>
          </a:xfrm>
          <a:prstGeom prst="roundRect">
            <a:avLst>
              <a:gd name="adj" fmla="val 9524"/>
            </a:avLst>
          </a:prstGeom>
          <a:solidFill>
            <a:srgbClr val="1C1C1E"/>
          </a:solidFill>
          <a:ln/>
        </p:spPr>
      </p:sp>
      <p:sp>
        <p:nvSpPr>
          <p:cNvPr id="9" name="Text 6"/>
          <p:cNvSpPr/>
          <p:nvPr/>
        </p:nvSpPr>
        <p:spPr>
          <a:xfrm>
            <a:off x="9464040" y="1859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
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MySQL, Amazon RDS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3032760"/>
            <a:ext cx="11064240" cy="0"/>
          </a:xfrm>
          <a:prstGeom prst="line">
            <a:avLst/>
          </a:prstGeom>
          <a:noFill/>
          <a:ln w="9525">
            <a:solidFill>
              <a:srgbClr val="DDDD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3584448"/>
            <a:ext cx="512064" cy="512064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2" name="Image 1" descr="/home/claude/deck/icons/shieldCheck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69417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3142488"/>
            <a:ext cx="2697480" cy="1395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Analista de Testes (QA)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114800" y="3124200"/>
            <a:ext cx="5074920" cy="1432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Elaborou casos de teste para os fluxos críticos — agendamento, remarcação e cancelamento — e testes automatizados de regressão, identificando falhas de sobreposição de horários e inconsistências de dados ainda durante o desenvolvimento.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9326880" y="3456432"/>
            <a:ext cx="2286000" cy="768096"/>
          </a:xfrm>
          <a:prstGeom prst="roundRect">
            <a:avLst>
              <a:gd name="adj" fmla="val 9524"/>
            </a:avLst>
          </a:prstGeom>
          <a:solidFill>
            <a:srgbClr val="1C1C1E"/>
          </a:solidFill>
          <a:ln/>
        </p:spPr>
      </p:sp>
      <p:sp>
        <p:nvSpPr>
          <p:cNvPr id="16" name="Text 12"/>
          <p:cNvSpPr/>
          <p:nvPr/>
        </p:nvSpPr>
        <p:spPr>
          <a:xfrm>
            <a:off x="9464040" y="3474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
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Selenium, Cypress, Postman, Jest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48640" y="4648200"/>
            <a:ext cx="11064240" cy="0"/>
          </a:xfrm>
          <a:prstGeom prst="line">
            <a:avLst/>
          </a:prstGeom>
          <a:noFill/>
          <a:ln w="9525">
            <a:solidFill>
              <a:srgbClr val="DDDDD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5199888"/>
            <a:ext cx="512064" cy="512064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9" name="Image 2" descr="/home/claude/deck/icons/cloud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9616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4757928"/>
            <a:ext cx="2697480" cy="1395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Profissional de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DevOps / Infraestrutura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114800" y="4739640"/>
            <a:ext cx="5074920" cy="1432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Configurou a hospedagem em nuvem, os pipelines de integração e entrega contínua (CI/CD) e o monitoramento de disponibilidade, permitindo publicar novas versões do sistema sem interromper o atendimento das clínicas.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9326880" y="5071872"/>
            <a:ext cx="2286000" cy="768096"/>
          </a:xfrm>
          <a:prstGeom prst="roundRect">
            <a:avLst>
              <a:gd name="adj" fmla="val 9524"/>
            </a:avLst>
          </a:prstGeom>
          <a:solidFill>
            <a:srgbClr val="1C1C1E"/>
          </a:solidFill>
          <a:ln/>
        </p:spPr>
      </p:sp>
      <p:sp>
        <p:nvSpPr>
          <p:cNvPr id="23" name="Text 18"/>
          <p:cNvSpPr/>
          <p:nvPr/>
        </p:nvSpPr>
        <p:spPr>
          <a:xfrm>
            <a:off x="9464040" y="509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
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AWS / Azure, GitHub Actions, Kubernetes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Vantix Soluções Digitais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Vantix está pronta para transformar a gestão da sua rede de clínicas. Vamos agendar uma conversa para detalhar o escopo e o cronograma?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2A2A2D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3063240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6" name="Image 0" descr="/home/claude/deck/icons/handshake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31821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7947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Reunião de Alinhamento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0120" y="43891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detalhado das necessidades da rede.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2743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2A2A2D"/>
          </a:solidFill>
          <a:ln/>
        </p:spPr>
      </p:sp>
      <p:sp>
        <p:nvSpPr>
          <p:cNvPr id="10" name="Shape 7"/>
          <p:cNvSpPr/>
          <p:nvPr/>
        </p:nvSpPr>
        <p:spPr>
          <a:xfrm>
            <a:off x="4800600" y="3063240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1" name="Image 1" descr="/home/claude/deck/icons/fileSignatur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31821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7947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Proposta Técnica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800600" y="43891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Escopo, cronograma e investimento do projeto.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2743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2A2A2D"/>
          </a:solidFill>
          <a:ln/>
        </p:spPr>
      </p:sp>
      <p:sp>
        <p:nvSpPr>
          <p:cNvPr id="15" name="Shape 11"/>
          <p:cNvSpPr/>
          <p:nvPr/>
        </p:nvSpPr>
        <p:spPr>
          <a:xfrm>
            <a:off x="8641080" y="3063240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pic>
        <p:nvPicPr>
          <p:cNvPr id="16" name="Image 2" descr="/home/claude/deck/icons/rocket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31821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7947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Início do Desenvolvimento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41080" y="43891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dedicado e entregas incrementais.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Vantix Soluções Digitais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2026-09-17T18:57:59Z</dcterms:created>
  <dcterms:modified xsi:type="dcterms:W3CDTF">2026-09-17T18:57:59Z</dcterms:modified>
</cp:coreProperties>
</file>